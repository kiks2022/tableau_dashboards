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28090"/>
          </a:solidFill>
        </p:spPr>
      </p:sp>
      <p:pic>
        <p:nvPicPr>
          <p:cNvPr id="3" name="Image 0" descr="Chart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28600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CADCFC"/>
                </a:solidFill>
              </a:rPr>
              <a:t>WEEK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2880" y="265176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DATA VISUALIZATION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&amp; DASHBOARDING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0" y="1463040"/>
            <a:ext cx="47548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Superstore Sales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114800" y="3063240"/>
            <a:ext cx="914400" cy="54864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8" name="Text 5"/>
          <p:cNvSpPr/>
          <p:nvPr/>
        </p:nvSpPr>
        <p:spPr>
          <a:xfrm>
            <a:off x="4114800" y="32461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AnalystLab Africa — Batch B Internship Program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0" y="361188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June 2025 — Analyst: Adekoya Kikelomo Akorede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46634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Tool: Superstore Dataset (Kaggle)  •  2014–2017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Total Record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43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6420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9,994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17627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4871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Orders 2014–2017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0058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Unique Custom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43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166420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793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606040" y="217627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Unique Customers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606040" y="24871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Across 4 US regions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0" y="10058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US States cove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430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166420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49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4754880" y="217627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 States covered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54880" y="24871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Continental + Hawaii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03720" y="10058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Years of da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1430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1664208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6903720" y="217627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Years of data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903720" y="248716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2014, 2015, 2016, 2017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columns in dataset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" y="34290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48640" y="3520440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Order ID, Order Date, Ship 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Ship Mode, Customer ID, Customer Name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337560" y="34290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3429000" y="3520440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Segment, Country, City,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Region, Product ID, Category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217920" y="34290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309360" y="3520440"/>
            <a:ext cx="24688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Sub-Category, Product Name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Sales, Quantity, Discount, Profit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the business needs to know: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457200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</a:rPr>
              <a:t>Which region drives the most profit?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</a:rPr>
              <a:t>Which product categories underperform?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</a:rPr>
              <a:t>What seasonal sales patterns exist?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</a:rPr>
              <a:t>Which customer segments are most valuable?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</a:rPr>
              <a:t>Where are discounts hurting margins?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097280"/>
            <a:ext cx="3566160" cy="3108960"/>
          </a:xfrm>
          <a:prstGeom prst="roundRect">
            <a:avLst>
              <a:gd name="adj" fmla="val 4412"/>
            </a:avLst>
          </a:prstGeom>
          <a:solidFill>
            <a:srgbClr val="028090"/>
          </a:solidFill>
          <a:effectLst>
            <a:outerShdw blurRad="127000" dist="508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0" descr="Go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2801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0" y="1920240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Dashboard Goal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0" y="2377440"/>
            <a:ext cx="32004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Enable decision-makers to monitor KPIs, identify profit drivers, and spot underperforming products — at a glance, with interactive filters.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KPIs Defined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Key Performance Indicators tracked in the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4447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</p:spPr>
      </p:sp>
      <p:pic>
        <p:nvPicPr>
          <p:cNvPr id="6" name="Image 0" descr="Total Revenu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81328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44475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" y="173736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$2.30M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Sum of all sales 2014–2017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14447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</p:spPr>
      </p:sp>
      <p:pic>
        <p:nvPicPr>
          <p:cNvPr id="12" name="Image 1" descr="Total Prof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481328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44475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913632" y="173736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$286K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291840" y="233172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Net profit across all orders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4447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A7517"/>
          </a:solidFill>
        </p:spPr>
      </p:sp>
      <p:pic>
        <p:nvPicPr>
          <p:cNvPr id="18" name="Image 2" descr="Profit Mar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481328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48272" y="144475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748272" y="173736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12.5%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126480" y="233172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Profit ÷ Revenue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" y="31363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39922"/>
          </a:solidFill>
        </p:spPr>
      </p:sp>
      <p:pic>
        <p:nvPicPr>
          <p:cNvPr id="24" name="Image 3" descr="Total Ord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172968"/>
            <a:ext cx="429768" cy="4297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078992" y="342900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9,994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457200" y="40233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order count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0040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10128" y="31363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93C1D"/>
          </a:solidFill>
        </p:spPr>
      </p:sp>
      <p:pic>
        <p:nvPicPr>
          <p:cNvPr id="30" name="Image 4" descr="Top Reg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172968"/>
            <a:ext cx="429768" cy="4297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13632" y="313639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Top Region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913632" y="342900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West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3291840" y="40233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$108K profit — highest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44768" y="31363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</p:spPr>
      </p:sp>
      <p:pic>
        <p:nvPicPr>
          <p:cNvPr id="36" name="Image 5" descr="Loss Sub-Ca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172968"/>
            <a:ext cx="429768" cy="42976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48272" y="313639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Loss Sub-Cat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748272" y="3429000"/>
            <a:ext cx="1737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Tables</a:t>
            </a:r>
            <a:endParaRPr lang="en-US" sz="2000" dirty="0"/>
          </a:p>
        </p:txBody>
      </p:sp>
      <p:sp>
        <p:nvSpPr>
          <p:cNvPr id="39" name="Text 31"/>
          <p:cNvSpPr/>
          <p:nvPr/>
        </p:nvSpPr>
        <p:spPr>
          <a:xfrm>
            <a:off x="6126480" y="4023360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-$17K — biggest loss-maker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2788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1" name="Picture 20" descr="Dashboard 1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" y="1036955"/>
            <a:ext cx="9012555" cy="4106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What the data tells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90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</p:spPr>
      </p:sp>
      <p:pic>
        <p:nvPicPr>
          <p:cNvPr id="6" name="Image 0" descr="West dominates prof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527048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527048"/>
            <a:ext cx="3246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West dominates profit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130552"/>
            <a:ext cx="3886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The West region contributes $108K profit — more than any other. Invest in scaling West operations.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3258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90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9F27"/>
          </a:solidFill>
        </p:spPr>
      </p:sp>
      <p:pic>
        <p:nvPicPr>
          <p:cNvPr id="11" name="Image 1" descr="Tech leads reven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527048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68696" y="1527048"/>
            <a:ext cx="3246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Tech leads revenue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2130552"/>
            <a:ext cx="3886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Technology ($836K) is the top-selling category, but Office Supplies shows stronger profit margin.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20040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33649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</p:spPr>
      </p:sp>
      <p:pic>
        <p:nvPicPr>
          <p:cNvPr id="16" name="Image 2" descr="Q4 seasonal spi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401568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3401568"/>
            <a:ext cx="3246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Q4 seasonal spike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4005072"/>
            <a:ext cx="3886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November–December consistently shows 2× the monthly average — ideal for promotional campaigns.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20040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3649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</p:spPr>
      </p:sp>
      <p:pic>
        <p:nvPicPr>
          <p:cNvPr id="21" name="Image 3" descr="Tables are loss-mak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401568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68696" y="3401568"/>
            <a:ext cx="3246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Tables are loss-makers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37760" y="4005072"/>
            <a:ext cx="3886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Tables, Bookcases, and Supplies sub-categories all report negative margins. Review pricing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Actionable next steps for stakeholders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365760" y="1280160"/>
            <a:ext cx="594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280160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3258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Expand in the West &amp; East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Allocate more marketing budget to the two most profitable regions. Run targeted campaigns to grow customer share.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365760" y="2221992"/>
            <a:ext cx="594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2221992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226771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Rethink furniture pricing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587752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Tables and Bookcases are consistently loss-making. Increase prices, reduce discounts, or consider discontinuation.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63824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BA7517"/>
          </a:solidFill>
        </p:spPr>
      </p:sp>
      <p:sp>
        <p:nvSpPr>
          <p:cNvPr id="15" name="Text 13"/>
          <p:cNvSpPr/>
          <p:nvPr/>
        </p:nvSpPr>
        <p:spPr>
          <a:xfrm>
            <a:off x="365760" y="3163824"/>
            <a:ext cx="594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3163824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80160" y="320954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Capitalise on Q4 demand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529584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Build up inventory 6 weeks before November. Launch holiday bundles in Technology and Office Supplies.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05656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F96167"/>
          </a:solidFill>
        </p:spPr>
      </p:sp>
      <p:sp>
        <p:nvSpPr>
          <p:cNvPr id="20" name="Text 18"/>
          <p:cNvSpPr/>
          <p:nvPr/>
        </p:nvSpPr>
        <p:spPr>
          <a:xfrm>
            <a:off x="365760" y="4105656"/>
            <a:ext cx="5943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105656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80160" y="415137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Reduce discount leakage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47141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Deep discounts erode margins by up to 60% in some sub-categories. Cap discounts at 20% and monitor impact.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4F7FB"/>
          </a:solidFill>
        </p:spPr>
      </p:sp>
      <p:sp>
        <p:nvSpPr>
          <p:cNvPr id="5" name="Text 3"/>
          <p:cNvSpPr/>
          <p:nvPr/>
        </p:nvSpPr>
        <p:spPr>
          <a:xfrm>
            <a:off x="548640" y="123444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Challenges faced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5661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Handling missing / null values in Order Date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Choosing the right chart type for each metric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Designing a clean layout without clutter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Setting up slicers for multi-level filtering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Making the dashboard accessible on smaller screens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5029200" y="123444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I learned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5661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Data cleaning is 60% of the analyst's work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KPIs must be defined before building visuals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Colour consistency improves readability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Storytelling matters more than chart count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Interactive filters add significant business value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640080"/>
            <a:ext cx="6400800" cy="4023360"/>
          </a:xfrm>
          <a:prstGeom prst="roundRect">
            <a:avLst>
              <a:gd name="adj" fmla="val 4545"/>
            </a:avLst>
          </a:prstGeom>
          <a:solidFill>
            <a:srgbClr val="028090"/>
          </a:solidFill>
          <a:effectLst>
            <a:outerShdw blurRad="254000" dist="1016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Do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965960"/>
            <a:ext cx="5852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Complete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45920" y="256032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Superstore Sales Dashboard — Week 4 Deliverable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45920" y="3063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Dashboard built with Power BI / Tableau  •  </a:t>
            </a:r>
            <a:r>
              <a:rPr lang="en-US" sz="1200" b="1" dirty="0">
                <a:solidFill>
                  <a:srgbClr val="FFFFFF"/>
                </a:solidFill>
              </a:rPr>
              <a:t>Dataset: Kaggle Superstore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0" y="3749040"/>
            <a:ext cx="5852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2C39A"/>
                </a:solidFill>
              </a:rPr>
              <a:t>#AnalystLabAfrica  •  @AnalystLabAfrica on LinkedIn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7091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Thank you!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3059</Words>
  <Application>WPS Presentation</Application>
  <PresentationFormat>On-screen Show (16:9)</PresentationFormat>
  <Paragraphs>183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 — AnalystLab Africa Week 4</dc:title>
  <dc:creator>PptxGenJS</dc:creator>
  <dc:subject>PptxGenJS Presentation</dc:subject>
  <cp:lastModifiedBy>akorede adekoya</cp:lastModifiedBy>
  <cp:revision>3</cp:revision>
  <dcterms:created xsi:type="dcterms:W3CDTF">2026-06-24T19:54:00Z</dcterms:created>
  <dcterms:modified xsi:type="dcterms:W3CDTF">2026-06-28T16:00:28Z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1033-12.1.0.26369</vt:lpwstr>
  </property>
  <property fmtid="{D5CDD505-2E9C-101B-9397-08002B2CF9AE}" pid="3" name="ICV">
    <vt:lpwstr>12024488BB304C999E15C200BCD6A430_13</vt:lpwstr>
  </property>
</Properties>
</file>